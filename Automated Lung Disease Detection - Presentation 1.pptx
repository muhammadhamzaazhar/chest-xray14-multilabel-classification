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91" r:id="rId3"/>
    <p:sldId id="290" r:id="rId4"/>
    <p:sldId id="301" r:id="rId5"/>
    <p:sldId id="302" r:id="rId6"/>
    <p:sldId id="276" r:id="rId7"/>
    <p:sldId id="312" r:id="rId8"/>
    <p:sldId id="314" r:id="rId9"/>
    <p:sldId id="275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Raleway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D219A51-5C8B-4553-B06F-47D497D46698}">
          <p14:sldIdLst>
            <p14:sldId id="256"/>
            <p14:sldId id="291"/>
            <p14:sldId id="290"/>
            <p14:sldId id="301"/>
            <p14:sldId id="302"/>
            <p14:sldId id="276"/>
            <p14:sldId id="312"/>
            <p14:sldId id="31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09288"/>
    <a:srgbClr val="137365"/>
    <a:srgbClr val="F46F02"/>
    <a:srgbClr val="FD94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4" autoAdjust="0"/>
  </p:normalViewPr>
  <p:slideViewPr>
    <p:cSldViewPr snapToGrid="0">
      <p:cViewPr varScale="1">
        <p:scale>
          <a:sx n="93" d="100"/>
          <a:sy n="93" d="100"/>
        </p:scale>
        <p:origin x="72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4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49E6-261A-5485-BE5D-50EF31A0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3F962-72D1-50F1-D2E5-DDDF82380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92E59-9D76-ECFB-1A7E-CAB45BFB7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372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5d3ebc8f0a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5d3ebc8f0a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nih-chest-xrays/data/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410966" y="1262376"/>
            <a:ext cx="8733034" cy="1023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891"/>
            </a:pPr>
            <a:r>
              <a:rPr lang="en-US" sz="2400" dirty="0"/>
              <a:t>Automated Lung Disease Detection from Chest X- Rays Using Transfer Learning</a:t>
            </a:r>
            <a:endParaRPr lang="en-US" sz="180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3182454" y="3149799"/>
            <a:ext cx="4627727" cy="731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r>
              <a:rPr lang="en-GB" b="1" dirty="0">
                <a:solidFill>
                  <a:srgbClr val="000000"/>
                </a:solidFill>
              </a:rPr>
              <a:t>Presented By:</a:t>
            </a:r>
            <a:r>
              <a:rPr lang="en-GB" dirty="0">
                <a:solidFill>
                  <a:srgbClr val="000000"/>
                </a:solidFill>
              </a:rPr>
              <a:t>  Muhammad Hamza Azhar</a:t>
            </a:r>
          </a:p>
          <a:p>
            <a:pPr marL="457200" lvl="0" indent="-33020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endParaRPr sz="5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                                     </a:t>
            </a:r>
            <a:r>
              <a:rPr lang="en-US" dirty="0">
                <a:solidFill>
                  <a:srgbClr val="000000"/>
                </a:solidFill>
              </a:rPr>
              <a:t>Sabir Hussain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531850" y="3881124"/>
            <a:ext cx="40803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Lato"/>
                <a:ea typeface="Lato"/>
                <a:cs typeface="Lato"/>
                <a:sym typeface="Lato"/>
              </a:rPr>
              <a:t>Machine Learning </a:t>
            </a:r>
            <a:r>
              <a:rPr lang="en-GB" sz="1800" dirty="0">
                <a:latin typeface="Lato"/>
                <a:ea typeface="Lato"/>
                <a:cs typeface="Lato"/>
                <a:sym typeface="Lato"/>
              </a:rPr>
              <a:t>Semester Project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68525" y="4460663"/>
            <a:ext cx="512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Pakistan Institute of Engineering &amp; Applied Sciences (PIEAS)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7;p13">
            <a:extLst>
              <a:ext uri="{FF2B5EF4-FFF2-40B4-BE49-F238E27FC236}">
                <a16:creationId xmlns:a16="http://schemas.microsoft.com/office/drawing/2014/main" id="{3991CBCF-A1D3-AE30-DE92-8DD68D59133D}"/>
              </a:ext>
            </a:extLst>
          </p:cNvPr>
          <p:cNvSpPr txBox="1">
            <a:spLocks/>
          </p:cNvSpPr>
          <p:nvPr/>
        </p:nvSpPr>
        <p:spPr>
          <a:xfrm>
            <a:off x="3369339" y="2404021"/>
            <a:ext cx="4627727" cy="77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30200" algn="r">
              <a:lnSpc>
                <a:spcPct val="80000"/>
              </a:lnSpc>
              <a:buClr>
                <a:srgbClr val="000000"/>
              </a:buClr>
              <a:buFont typeface="Lato"/>
              <a:buChar char="-"/>
            </a:pPr>
            <a:r>
              <a:rPr lang="en-GB" b="1" dirty="0">
                <a:solidFill>
                  <a:srgbClr val="000000"/>
                </a:solidFill>
              </a:rPr>
              <a:t>Supervised By:</a:t>
            </a:r>
            <a:r>
              <a:rPr lang="en-GB" dirty="0">
                <a:solidFill>
                  <a:srgbClr val="000000"/>
                </a:solidFill>
              </a:rPr>
              <a:t>  Dr. Shahzad Ahmed Qureshi</a:t>
            </a:r>
          </a:p>
          <a:p>
            <a:pPr indent="-330200" algn="r">
              <a:lnSpc>
                <a:spcPct val="80000"/>
              </a:lnSpc>
              <a:buClr>
                <a:srgbClr val="000000"/>
              </a:buClr>
              <a:buFont typeface="Lato"/>
              <a:buChar char="-"/>
            </a:pPr>
            <a:endParaRPr lang="en-GB" sz="50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</a:pPr>
            <a:r>
              <a:rPr lang="en-GB" sz="1800" dirty="0">
                <a:solidFill>
                  <a:srgbClr val="000000"/>
                </a:solidFill>
              </a:rPr>
              <a:t>                                 </a:t>
            </a:r>
            <a:r>
              <a:rPr lang="en-GB" dirty="0">
                <a:solidFill>
                  <a:srgbClr val="000000"/>
                </a:solidFill>
              </a:rPr>
              <a:t>Dure Shahwar Fazal</a:t>
            </a:r>
            <a:endParaRPr lang="en-GB" sz="180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</a:pPr>
            <a:endParaRPr lang="en-GB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DEDF-5AC0-9B2F-28ED-4CDD2ABE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535925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dirty="0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8F8CA-9F3F-BE11-8C95-1B820AEB8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9210" y="1584947"/>
            <a:ext cx="7688700" cy="2463071"/>
          </a:xfrm>
        </p:spPr>
        <p:txBody>
          <a:bodyPr>
            <a:normAutofit/>
          </a:bodyPr>
          <a:lstStyle/>
          <a:p>
            <a:pPr marL="488950" indent="-342900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What is a Chest X-Ray?</a:t>
            </a:r>
          </a:p>
          <a:p>
            <a:pPr marL="488950" indent="-342900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Why Automate Chest X-Ray Interpretation?</a:t>
            </a:r>
          </a:p>
          <a:p>
            <a:pPr marL="488950" indent="-342900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What Diseases Are We Classifying?</a:t>
            </a:r>
          </a:p>
          <a:p>
            <a:pPr marL="488950" indent="-342900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About the NIH ChestX-ray14 Dataset</a:t>
            </a:r>
          </a:p>
          <a:p>
            <a:pPr marL="488950" indent="-342900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Challenges &amp; Considerations</a:t>
            </a:r>
          </a:p>
          <a:p>
            <a:pPr marL="488950" indent="-342900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Class Imbalance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8F64-98C1-73D5-757B-42B98FE39F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  <p:pic>
        <p:nvPicPr>
          <p:cNvPr id="5" name="Google Shape;99;p14">
            <a:extLst>
              <a:ext uri="{FF2B5EF4-FFF2-40B4-BE49-F238E27FC236}">
                <a16:creationId xmlns:a16="http://schemas.microsoft.com/office/drawing/2014/main" id="{196B81F8-D49F-A04A-9191-D2CC73FA229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67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17F5-7AC5-2170-F7B7-733F079DE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612068"/>
            <a:ext cx="7688700" cy="535200"/>
          </a:xfrm>
        </p:spPr>
        <p:txBody>
          <a:bodyPr>
            <a:noAutofit/>
          </a:bodyPr>
          <a:lstStyle/>
          <a:p>
            <a:r>
              <a:rPr lang="en-US" sz="2400" dirty="0"/>
              <a:t>What is a Chest X-Ray?</a:t>
            </a:r>
            <a:endParaRPr lang="en-US" sz="2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D4DB9-EBF4-F976-F6DA-9B108D383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037" y="1435529"/>
            <a:ext cx="7930615" cy="3432432"/>
          </a:xfrm>
        </p:spPr>
        <p:txBody>
          <a:bodyPr>
            <a:normAutofit/>
          </a:bodyPr>
          <a:lstStyle/>
          <a:p>
            <a:pPr marL="146050" indent="0" algn="just">
              <a:lnSpc>
                <a:spcPct val="150000"/>
              </a:lnSpc>
              <a:buClr>
                <a:srgbClr val="000000"/>
              </a:buClr>
              <a:buNone/>
            </a:pPr>
            <a:r>
              <a:rPr lang="en-US" sz="1600" dirty="0">
                <a:solidFill>
                  <a:schemeClr val="bg2"/>
                </a:solidFill>
              </a:rPr>
              <a:t>A Chest X-Ray (CXR) is a medical imaging technique that uses low-dose X-radiation to visualize the internal structures of the chest including lungs, heart, and bones. It’s one of the most common radiological exams used to diagnose respiratory conditions.</a:t>
            </a:r>
          </a:p>
          <a:p>
            <a:pPr marL="146050" indent="0" algn="just">
              <a:lnSpc>
                <a:spcPct val="150000"/>
              </a:lnSpc>
              <a:buClr>
                <a:srgbClr val="000000"/>
              </a:buClr>
              <a:buNone/>
            </a:pPr>
            <a:endParaRPr lang="en-US" sz="1000" dirty="0">
              <a:solidFill>
                <a:schemeClr val="bg2"/>
              </a:solidFill>
            </a:endParaRPr>
          </a:p>
          <a:p>
            <a:pPr marL="146050" indent="0" algn="just">
              <a:lnSpc>
                <a:spcPct val="150000"/>
              </a:lnSpc>
              <a:buClr>
                <a:srgbClr val="000000"/>
              </a:buClr>
              <a:buNone/>
            </a:pPr>
            <a:r>
              <a:rPr lang="en-US" sz="1600" b="1" dirty="0">
                <a:solidFill>
                  <a:schemeClr val="bg2"/>
                </a:solidFill>
              </a:rPr>
              <a:t>Purpose:</a:t>
            </a:r>
          </a:p>
          <a:p>
            <a:pPr algn="just">
              <a:lnSpc>
                <a:spcPct val="150000"/>
              </a:lnSpc>
              <a:buClr>
                <a:srgbClr val="000000"/>
              </a:buClr>
            </a:pPr>
            <a:r>
              <a:rPr lang="en-US" sz="1600" dirty="0">
                <a:solidFill>
                  <a:schemeClr val="bg2"/>
                </a:solidFill>
              </a:rPr>
              <a:t>Detect lung diseases</a:t>
            </a:r>
          </a:p>
          <a:p>
            <a:pPr algn="just">
              <a:lnSpc>
                <a:spcPct val="150000"/>
              </a:lnSpc>
              <a:buClr>
                <a:srgbClr val="000000"/>
              </a:buClr>
            </a:pPr>
            <a:r>
              <a:rPr lang="en-US" sz="1600" dirty="0">
                <a:solidFill>
                  <a:schemeClr val="bg2"/>
                </a:solidFill>
              </a:rPr>
              <a:t>Identify bone abnormalities</a:t>
            </a:r>
          </a:p>
          <a:p>
            <a:pPr algn="just">
              <a:lnSpc>
                <a:spcPct val="150000"/>
              </a:lnSpc>
              <a:buClr>
                <a:srgbClr val="000000"/>
              </a:buClr>
            </a:pPr>
            <a:r>
              <a:rPr lang="en-US" sz="1600" dirty="0">
                <a:solidFill>
                  <a:schemeClr val="bg2"/>
                </a:solidFill>
              </a:rPr>
              <a:t>Evaluate chest trauma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B48E9-BADD-F52C-F90F-0DBCDDC13B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  <p:pic>
        <p:nvPicPr>
          <p:cNvPr id="5" name="Google Shape;99;p14">
            <a:extLst>
              <a:ext uri="{FF2B5EF4-FFF2-40B4-BE49-F238E27FC236}">
                <a16:creationId xmlns:a16="http://schemas.microsoft.com/office/drawing/2014/main" id="{3B09955A-7331-130A-9232-F110CE65480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3082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D146-35FA-32F8-9335-E762A41B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9D01-3BD8-E515-4365-A3425E93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612068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Why Automate Chest X-Ray Interpretation?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AA20F-84A5-3393-C427-1E65E9361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745" y="1644912"/>
            <a:ext cx="7990289" cy="31049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1600" b="1" dirty="0">
                <a:solidFill>
                  <a:schemeClr val="bg2"/>
                </a:solidFill>
              </a:rPr>
              <a:t>Clinical Need: </a:t>
            </a:r>
            <a:r>
              <a:rPr lang="en-US" sz="1600" dirty="0">
                <a:solidFill>
                  <a:schemeClr val="bg2"/>
                </a:solidFill>
              </a:rPr>
              <a:t>Interpretation of chest X-rays is highly skilled - requiring radiologists to detect subtle signs of disease.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1600" b="1" dirty="0">
                <a:solidFill>
                  <a:schemeClr val="bg2"/>
                </a:solidFill>
              </a:rPr>
              <a:t>Machine Learning Use-Cases:</a:t>
            </a: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Classification of diseases</a:t>
            </a: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Localization of abnormalities</a:t>
            </a: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Computer-aided diagnosis (CAD)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B774D-3185-51C6-1D68-127DFEDAAB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  <p:pic>
        <p:nvPicPr>
          <p:cNvPr id="5" name="Google Shape;99;p14">
            <a:extLst>
              <a:ext uri="{FF2B5EF4-FFF2-40B4-BE49-F238E27FC236}">
                <a16:creationId xmlns:a16="http://schemas.microsoft.com/office/drawing/2014/main" id="{38373D89-4126-C927-430C-8D0A248F1F0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0684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DD3F-E7EC-40E0-79A1-2CF37D835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E5FB-0B2C-3D3F-E587-2505ADA5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612068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What Diseases Are We Classifying?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C76A8-C9C5-4E9D-86A7-1E2E8B817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1376713"/>
            <a:ext cx="8036206" cy="803000"/>
          </a:xfrm>
        </p:spPr>
        <p:txBody>
          <a:bodyPr>
            <a:normAutofit fontScale="92500" lnSpcReduction="20000"/>
          </a:bodyPr>
          <a:lstStyle/>
          <a:p>
            <a:pPr marL="146050" indent="0" algn="just">
              <a:lnSpc>
                <a:spcPct val="150000"/>
              </a:lnSpc>
              <a:buClr>
                <a:srgbClr val="000000"/>
              </a:buClr>
              <a:buNone/>
            </a:pPr>
            <a:r>
              <a:rPr lang="en-US" sz="1600" dirty="0">
                <a:solidFill>
                  <a:schemeClr val="bg2"/>
                </a:solidFill>
              </a:rPr>
              <a:t>There are 15 classes (14 diseases, and one for "No findings"). Images can be classified as "No findings" or one or more disease classes: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9AD9E-1F68-499C-51A9-6245C6FD87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pic>
        <p:nvPicPr>
          <p:cNvPr id="5" name="Google Shape;99;p14">
            <a:extLst>
              <a:ext uri="{FF2B5EF4-FFF2-40B4-BE49-F238E27FC236}">
                <a16:creationId xmlns:a16="http://schemas.microsoft.com/office/drawing/2014/main" id="{EA72B916-32FF-39F1-95D1-CC2526DE6FA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FD82B02-13A2-C5DB-ED4B-6B942BC2A035}"/>
              </a:ext>
            </a:extLst>
          </p:cNvPr>
          <p:cNvSpPr txBox="1">
            <a:spLocks/>
          </p:cNvSpPr>
          <p:nvPr/>
        </p:nvSpPr>
        <p:spPr>
          <a:xfrm>
            <a:off x="1376752" y="2179713"/>
            <a:ext cx="3415797" cy="2736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</a:rPr>
              <a:t>Atelectasis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</a:rPr>
              <a:t>Cardiomegaly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</a:rPr>
              <a:t>Consolidation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</a:rPr>
              <a:t>Edema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</a:rPr>
              <a:t>Effusion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</a:rPr>
              <a:t>Emphysema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</a:rPr>
              <a:t>Fibrosis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F1E917E-E507-C27B-717B-8BF090C14CD1}"/>
              </a:ext>
            </a:extLst>
          </p:cNvPr>
          <p:cNvSpPr txBox="1">
            <a:spLocks/>
          </p:cNvSpPr>
          <p:nvPr/>
        </p:nvSpPr>
        <p:spPr>
          <a:xfrm>
            <a:off x="4953757" y="2179713"/>
            <a:ext cx="3415797" cy="2736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8"/>
            </a:pPr>
            <a:r>
              <a:rPr lang="en-US" sz="1600" dirty="0">
                <a:solidFill>
                  <a:schemeClr val="bg2"/>
                </a:solidFill>
              </a:rPr>
              <a:t>Hernia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8"/>
            </a:pPr>
            <a:r>
              <a:rPr lang="en-US" sz="1600" dirty="0">
                <a:solidFill>
                  <a:schemeClr val="bg2"/>
                </a:solidFill>
              </a:rPr>
              <a:t>Infiltration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8"/>
            </a:pPr>
            <a:r>
              <a:rPr lang="en-US" sz="1600" dirty="0">
                <a:solidFill>
                  <a:schemeClr val="bg2"/>
                </a:solidFill>
              </a:rPr>
              <a:t>Mass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8"/>
            </a:pPr>
            <a:r>
              <a:rPr lang="en-US" sz="1600" dirty="0">
                <a:solidFill>
                  <a:schemeClr val="bg2"/>
                </a:solidFill>
              </a:rPr>
              <a:t>Nodule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8"/>
            </a:pPr>
            <a:r>
              <a:rPr lang="en-US" sz="1600" dirty="0">
                <a:solidFill>
                  <a:schemeClr val="bg2"/>
                </a:solidFill>
              </a:rPr>
              <a:t>Pleural Thickening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8"/>
            </a:pPr>
            <a:r>
              <a:rPr lang="en-US" sz="1600" dirty="0">
                <a:solidFill>
                  <a:schemeClr val="bg2"/>
                </a:solidFill>
              </a:rPr>
              <a:t>Pneumonia</a:t>
            </a:r>
          </a:p>
          <a:p>
            <a:pPr marL="488950" indent="-342900" algn="just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8"/>
            </a:pPr>
            <a:r>
              <a:rPr lang="en-US" sz="1600" dirty="0">
                <a:solidFill>
                  <a:schemeClr val="bg2"/>
                </a:solidFill>
              </a:rPr>
              <a:t>Pneumothorax</a:t>
            </a:r>
          </a:p>
        </p:txBody>
      </p:sp>
    </p:spTree>
    <p:extLst>
      <p:ext uri="{BB962C8B-B14F-4D97-AF65-F5344CB8AC3E}">
        <p14:creationId xmlns:p14="http://schemas.microsoft.com/office/powerpoint/2010/main" val="954804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33E5-3E3E-6240-47D0-D932883A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89" y="556549"/>
            <a:ext cx="7688700" cy="535200"/>
          </a:xfrm>
        </p:spPr>
        <p:txBody>
          <a:bodyPr>
            <a:noAutofit/>
          </a:bodyPr>
          <a:lstStyle/>
          <a:p>
            <a:r>
              <a:rPr lang="en-US" sz="2400" dirty="0"/>
              <a:t>About the NIH ChestX-ray14 Dataset</a:t>
            </a:r>
            <a:endParaRPr lang="en-US" sz="2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AC9DD-B8E4-6AA3-34BD-899EE4AFA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626" y="1320058"/>
            <a:ext cx="7688699" cy="3429793"/>
          </a:xfrm>
        </p:spPr>
        <p:txBody>
          <a:bodyPr>
            <a:normAutofit lnSpcReduction="10000"/>
          </a:bodyPr>
          <a:lstStyle/>
          <a:p>
            <a:pPr>
              <a:buClr>
                <a:srgbClr val="000000"/>
              </a:buClr>
            </a:pPr>
            <a:r>
              <a:rPr lang="en-US" sz="1400" b="1" dirty="0">
                <a:solidFill>
                  <a:schemeClr val="bg2"/>
                </a:solidFill>
              </a:rPr>
              <a:t>Origin:</a:t>
            </a:r>
          </a:p>
          <a:p>
            <a:pPr lvl="1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Released by the National Institutes of Health (NIH) Clinical Center (US).</a:t>
            </a:r>
          </a:p>
          <a:p>
            <a:pPr lvl="1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One of the largest publicly available chest X-ray datasets</a:t>
            </a:r>
          </a:p>
          <a:p>
            <a:pPr lvl="1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  <a:hlinkClick r:id="rId3"/>
              </a:rPr>
              <a:t>https://www.kaggle.com/datasets/nih-chest-xrays/data/data</a:t>
            </a:r>
            <a:endParaRPr lang="en-US" sz="1400" dirty="0">
              <a:solidFill>
                <a:schemeClr val="bg2"/>
              </a:solidFill>
            </a:endParaRPr>
          </a:p>
          <a:p>
            <a:pPr>
              <a:buClr>
                <a:srgbClr val="000000"/>
              </a:buClr>
            </a:pPr>
            <a:endParaRPr lang="en-US" sz="1400" dirty="0">
              <a:solidFill>
                <a:schemeClr val="bg2"/>
              </a:solidFill>
            </a:endParaRPr>
          </a:p>
          <a:p>
            <a:pPr>
              <a:buClr>
                <a:srgbClr val="000000"/>
              </a:buClr>
            </a:pPr>
            <a:r>
              <a:rPr lang="en-US" sz="1400" b="1" dirty="0">
                <a:solidFill>
                  <a:schemeClr val="bg2"/>
                </a:solidFill>
              </a:rPr>
              <a:t>Content:</a:t>
            </a:r>
          </a:p>
          <a:p>
            <a:pPr lvl="1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112,120 frontal chest X-ray images</a:t>
            </a:r>
          </a:p>
          <a:p>
            <a:pPr lvl="1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30,805 unique patients</a:t>
            </a:r>
          </a:p>
          <a:p>
            <a:pPr lvl="1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Images may have multiple disease labels (multi-label classification).</a:t>
            </a:r>
          </a:p>
          <a:p>
            <a:pPr lvl="1">
              <a:buClr>
                <a:srgbClr val="000000"/>
              </a:buClr>
            </a:pPr>
            <a:endParaRPr lang="en-US" sz="1400" dirty="0">
              <a:solidFill>
                <a:schemeClr val="bg2"/>
              </a:solidFill>
            </a:endParaRPr>
          </a:p>
          <a:p>
            <a:pPr algn="just">
              <a:buClr>
                <a:srgbClr val="000000"/>
              </a:buClr>
            </a:pPr>
            <a:r>
              <a:rPr lang="en-US" sz="1400" b="1" dirty="0">
                <a:solidFill>
                  <a:schemeClr val="bg2"/>
                </a:solidFill>
              </a:rPr>
              <a:t>Image Format:</a:t>
            </a:r>
          </a:p>
          <a:p>
            <a:pPr lvl="1" algn="just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Grayscale, frontal-view X-rays (PA or AP)</a:t>
            </a:r>
          </a:p>
          <a:p>
            <a:pPr lvl="1" algn="just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Stored normally at 1024×1024 pixels</a:t>
            </a:r>
          </a:p>
          <a:p>
            <a:pPr lvl="1" algn="just">
              <a:buClr>
                <a:srgbClr val="000000"/>
              </a:buClr>
            </a:pPr>
            <a:r>
              <a:rPr lang="en-US" sz="1400" dirty="0">
                <a:solidFill>
                  <a:schemeClr val="bg2"/>
                </a:solidFill>
              </a:rPr>
              <a:t>Images also include patient metadata (age, gender, view).</a:t>
            </a:r>
          </a:p>
          <a:p>
            <a:pPr>
              <a:buClr>
                <a:srgbClr val="000000"/>
              </a:buClr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12395-81A8-E55D-D570-94112390EB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pic>
        <p:nvPicPr>
          <p:cNvPr id="6" name="Google Shape;99;p14">
            <a:extLst>
              <a:ext uri="{FF2B5EF4-FFF2-40B4-BE49-F238E27FC236}">
                <a16:creationId xmlns:a16="http://schemas.microsoft.com/office/drawing/2014/main" id="{A7C10ADF-534A-0A41-5B31-EF620918434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0642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EEA33-76FC-DBA0-8A45-6E2AC6AB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AC2B-2336-4D19-1563-4A9B6381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89" y="556549"/>
            <a:ext cx="7688700" cy="535200"/>
          </a:xfrm>
        </p:spPr>
        <p:txBody>
          <a:bodyPr>
            <a:noAutofit/>
          </a:bodyPr>
          <a:lstStyle/>
          <a:p>
            <a:r>
              <a:rPr lang="en-US" sz="2400" dirty="0"/>
              <a:t>Class Imbalance</a:t>
            </a: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BAFAC-7888-0B56-C6F3-BD4618A414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pic>
        <p:nvPicPr>
          <p:cNvPr id="6" name="Google Shape;99;p14">
            <a:extLst>
              <a:ext uri="{FF2B5EF4-FFF2-40B4-BE49-F238E27FC236}">
                <a16:creationId xmlns:a16="http://schemas.microsoft.com/office/drawing/2014/main" id="{F7D65860-A757-E8C7-EA21-4B87A292FC6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06A517-07E1-404A-6871-25E4B4412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545180"/>
              </p:ext>
            </p:extLst>
          </p:nvPr>
        </p:nvGraphicFramePr>
        <p:xfrm>
          <a:off x="1524000" y="1696445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8787728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13776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Approximate 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41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No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~50–60% of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91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Common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1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Effusion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433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Hernia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471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35EEFB4-5834-1A45-2A9A-B91FCB1FF3A7}"/>
              </a:ext>
            </a:extLst>
          </p:cNvPr>
          <p:cNvSpPr txBox="1"/>
          <p:nvPr/>
        </p:nvSpPr>
        <p:spPr>
          <a:xfrm>
            <a:off x="782748" y="3897862"/>
            <a:ext cx="802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Many diseases occur much less frequently than normal images, which complicates training models.</a:t>
            </a:r>
          </a:p>
        </p:txBody>
      </p:sp>
    </p:spTree>
    <p:extLst>
      <p:ext uri="{BB962C8B-B14F-4D97-AF65-F5344CB8AC3E}">
        <p14:creationId xmlns:p14="http://schemas.microsoft.com/office/powerpoint/2010/main" val="157539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C49B-88E6-0B8A-AC34-AA3ED08B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535925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dirty="0"/>
              <a:t>Flow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C21EE-CD27-DC18-D96F-A506D0B07B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44DCCF-59B7-0E54-EA22-8DA82ADD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924" y="535925"/>
            <a:ext cx="4357649" cy="447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9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Thank You</a:t>
            </a:r>
            <a:endParaRPr sz="4600"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1"/>
          </p:nvPr>
        </p:nvSpPr>
        <p:spPr>
          <a:xfrm>
            <a:off x="805652" y="268235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Any Questions?</a:t>
            </a:r>
            <a:endParaRPr sz="1900"/>
          </a:p>
        </p:txBody>
      </p:sp>
      <p:sp>
        <p:nvSpPr>
          <p:cNvPr id="247" name="Google Shape;247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accent1"/>
                </a:solidFill>
              </a:rPr>
              <a:t>9</a:t>
            </a:fld>
            <a:endParaRPr>
              <a:solidFill>
                <a:schemeClr val="accent1"/>
              </a:solidFill>
            </a:endParaRPr>
          </a:p>
        </p:txBody>
      </p:sp>
      <p:pic>
        <p:nvPicPr>
          <p:cNvPr id="248" name="Google Shape;2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00" y="4309726"/>
            <a:ext cx="707927" cy="70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6210</TotalTime>
  <Words>375</Words>
  <Application>Microsoft Office PowerPoint</Application>
  <PresentationFormat>On-screen Show (16:9)</PresentationFormat>
  <Paragraphs>84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Raleway</vt:lpstr>
      <vt:lpstr>Lato</vt:lpstr>
      <vt:lpstr>Streamline</vt:lpstr>
      <vt:lpstr>Automated Lung Disease Detection from Chest X- Rays Using Transfer Learning</vt:lpstr>
      <vt:lpstr>Presentation Outline</vt:lpstr>
      <vt:lpstr>What is a Chest X-Ray?</vt:lpstr>
      <vt:lpstr>Why Automate Chest X-Ray Interpretation?</vt:lpstr>
      <vt:lpstr>What Diseases Are We Classifying?</vt:lpstr>
      <vt:lpstr>About the NIH ChestX-ray14 Dataset</vt:lpstr>
      <vt:lpstr>Class Imbalance</vt:lpstr>
      <vt:lpstr>Flow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Haider Ali</dc:creator>
  <cp:lastModifiedBy>Muhammad Hamza Azhar</cp:lastModifiedBy>
  <cp:revision>204</cp:revision>
  <dcterms:modified xsi:type="dcterms:W3CDTF">2026-05-09T06:15:31Z</dcterms:modified>
</cp:coreProperties>
</file>