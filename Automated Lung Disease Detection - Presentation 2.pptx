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5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F2937"/>
                </a:solidFill>
                <a:latin typeface="Calibri"/>
              </a:rPr>
              <a:t>Mean AUC by phase (note: Phase 4 covers 14× more classes)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Phase 2:
Classical ML
(2 classes)</c:v>
                </c:pt>
                <c:pt idx="1">
                  <c:v>Phase 3:
Multi-Backbone
CNN (3 classes)</c:v>
                </c:pt>
                <c:pt idx="2">
                  <c:v>Phase 4:
DannyNet
(14 classes)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</c:v>
                </c:pt>
                <c:pt idx="1">
                  <c:v>0.77</c:v>
                </c:pt>
                <c:pt idx="2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0-4951-9061-5EEF5B2555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64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  <a:latin typeface="Calibri" pitchFamily="34" charset="0"/>
                <a:cs typeface="Calibri" pitchFamily="34" charset="-120"/>
              </a:rPr>
              <a:t>MACHINE LEARNING – COURSE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Classification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ML to DannyNet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&amp; Improving CheXNet on the NIH ChestX-ray14 dataset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deep-learning research journey</a:t>
            </a:r>
            <a:endParaRPr lang="en-US" sz="14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C1E6CA24-1F42-3C41-44A6-3435D51BCD75}"/>
              </a:ext>
            </a:extLst>
          </p:cNvPr>
          <p:cNvSpPr/>
          <p:nvPr/>
        </p:nvSpPr>
        <p:spPr>
          <a:xfrm>
            <a:off x="6963875" y="-716480"/>
            <a:ext cx="2762450" cy="2530239"/>
          </a:xfrm>
          <a:prstGeom prst="ellipse">
            <a:avLst/>
          </a:prstGeom>
          <a:solidFill>
            <a:srgbClr val="0F766E">
              <a:alpha val="50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37F9727E-ABA6-5CA3-E79C-B5F547CF9320}"/>
              </a:ext>
            </a:extLst>
          </p:cNvPr>
          <p:cNvSpPr/>
          <p:nvPr/>
        </p:nvSpPr>
        <p:spPr>
          <a:xfrm>
            <a:off x="-834259" y="3869355"/>
            <a:ext cx="2286000" cy="2286000"/>
          </a:xfrm>
          <a:prstGeom prst="ellipse">
            <a:avLst/>
          </a:prstGeom>
          <a:solidFill>
            <a:srgbClr val="F97066">
              <a:alpha val="40000"/>
            </a:srgbClr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automated chest X-ray classification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billion+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X-rays performed worldwide every year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971800"/>
            <a:ext cx="18288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many regions face severe radiologist shortages - making AI-assisted diagnosis a clinically urgent need.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114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73152" cy="9601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36192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578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5780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images are 'No Finding'; rare diseases like Hernia appear in only 0.2% of cases.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2468880"/>
            <a:ext cx="4114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2468880"/>
            <a:ext cx="73152" cy="9601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3347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complexity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25780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X-ray may show several diseases at once. 836 unique label combinations exist.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3566160"/>
            <a:ext cx="4114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572000" y="3566160"/>
            <a:ext cx="73152" cy="9601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3075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visual signals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25780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diseases requires identifying low-contrast patterns invisible to the untrained eye.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NIH ChestX-ray14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largest publicly available medical imaging datasets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112,120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frontal-view X-rays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8608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30,805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78608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0016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21424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21424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21424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accuracy (NLP)</a:t>
            </a:r>
            <a:endParaRPr lang="en-US" sz="1100" dirty="0"/>
          </a:p>
        </p:txBody>
      </p:sp>
      <p:pic>
        <p:nvPicPr>
          <p:cNvPr id="17" name="Image 0" descr="/home/claude/work/pres_assets/eda_lab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4114800" cy="2011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709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- heavily skewed toward 'No Finding'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31089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format -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X-ray can have 0, 1, or many disease labels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 unique label combinations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the dataset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grouping -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patient often has multiple X-rays (leakage risk)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NIH 2017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'accuracy' number is misleading on this dataset</a:t>
            </a:r>
            <a:endParaRPr lang="en-US" sz="1300" dirty="0"/>
          </a:p>
        </p:txBody>
      </p:sp>
      <p:pic>
        <p:nvPicPr>
          <p:cNvPr id="5" name="Image 0" descr="/home/claude/work/pres_assets/eda_class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035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per disease - Hernia is ~493× rarer than its negatives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71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3504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predicts 'no disease' achieves ~90% accuracy - and zero clinical value.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7889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35040" y="32232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-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well the model ranks positives above negatives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-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harmonic mean of precision &amp; recall after a binary decision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simplification, then a return to the full problem armed with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1920240"/>
            <a:ext cx="54864" cy="2468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234440"/>
            <a:ext cx="73609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572768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label distribution, age/gender bias, disease co-occurrence patterns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788920"/>
            <a:ext cx="54864" cy="2468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17320" y="2103120"/>
            <a:ext cx="73609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(Atelectasis vs Effusion)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441448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- HOG features → CNN features → ResNet50+PCA → MLP. Baselines: ~70-79% AUC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1248" y="3657600"/>
            <a:ext cx="54864" cy="2468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17320" y="2971800"/>
            <a:ext cx="73609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301752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Multi-Backbone CNN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310128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3 classes (Atelectasis, Effusion, No Finding) using DenseNet121 + ResNet50 ensemble. AUC ≈ 0.77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17320" y="3840480"/>
            <a:ext cx="73609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54480" y="388620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14-Class DannyNet (paper reproduction)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178808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+ Focal Loss + AdamW + per-class threshold tuning. Mean AUC ≈ 0.83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Insight: Diseases Co-occur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multi-label approach is essential</a:t>
            </a:r>
            <a:endParaRPr lang="en-US" sz="1300" dirty="0"/>
          </a:p>
        </p:txBody>
      </p:sp>
      <p:pic>
        <p:nvPicPr>
          <p:cNvPr id="5" name="Image 0" descr="/home/claude/work/pres_assets/eda_cooccurren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disease pairings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12080" y="1691640"/>
            <a:ext cx="3657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  ↔  Emphysema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1691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12080" y="2057400"/>
            <a:ext cx="3657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 ↔  Pneumonia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2423160"/>
            <a:ext cx="3657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0352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  ↔  Atelectasis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2423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12080" y="2788920"/>
            <a:ext cx="3657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03520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  ↔  Cardiomegaly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2788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3154680"/>
            <a:ext cx="3657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035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  ↔  Infiltration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3154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12080" y="3703320"/>
            <a:ext cx="3657600" cy="11430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8404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60720" y="3822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34924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Single-label classification cannot capture clinical reality - the model must support multiple simultaneous diagnoses.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Binary Classical-ML Baselines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Atelectasis vs Effusion - building intuition before tackling the full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× classifier comparison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287031"/>
              </p:ext>
            </p:extLst>
          </p:nvPr>
        </p:nvGraphicFramePr>
        <p:xfrm>
          <a:off x="457200" y="1554480"/>
          <a:ext cx="502920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+ PCA (974 comp)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+ PCA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EfficientNet-B4 fine-tuned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 0" descr="/home/claude/work/pres_assets/binary_hog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80160"/>
            <a:ext cx="3017520" cy="201168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585216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model: SVM with HOG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023360"/>
            <a:ext cx="841248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9728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the simplified 2-class setup, classical ML plateaus around 70-72% accuracy. Deep CNN features modestly outperform handcrafted HOG, but the ceiling is clear - we need end-to-end learning on more data.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Multi-Backbone CNN (3 classes)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Atelectasis vs Effusion vs No Finding — DenseNet121 + ResNet50 ensemble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(224×224 RGB)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(frozen)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ResNet-50 (frozen)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Concatenate (1024 + 2048 = 3072 dim)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Dense(512) + Dropout + Softmax(3)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classifier head only (backbones frozen)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last 30 layers of each backbone</a:t>
            </a:r>
            <a:endParaRPr lang="en-US" sz="1050" dirty="0"/>
          </a:p>
        </p:txBody>
      </p:sp>
      <p:pic>
        <p:nvPicPr>
          <p:cNvPr id="9" name="Image 0" descr="/home/claude/work/pres_assets/multibackbone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411480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41148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AUC: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46320" y="4498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binary baseline, but the model still confuses Atelectasis with No Finding heavily.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Before the Reproduction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8 prior experiments shaped the final model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15087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the dominant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losses + uniform thresholds always favor the majority class. Need per-class strategies.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73152" cy="15087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&gt; single-label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co-occur. Forcing one label per image throws away clinically real information.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73152" cy="15087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278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CNN &gt; frozen feature extraction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58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features alone cap at ~72%. Full fine-tuning unlocks meaningfully higher AUC.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73152" cy="15087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91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2278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splits are non-negotiable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appears in many X-rays. Image-level splits leak data and inflate metrics.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</a:t>
            </a:r>
            <a:r>
              <a:rPr lang="en-US" sz="28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DannyNet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Final Reproduction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Strick, Garcia &amp; Huang (2025): improvements over original CheXNet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design choices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backbone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ImageNet-pretrained, fully fine-tuned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(γ=2, α=1)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negatives, focuses on hard rare positives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5e-5, decoupled weight decay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383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+ RRC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156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RandomResizedCrop, HorizontalFlip, ColorJitter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thresholds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51560" y="4251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validation set per disease - not global 0.5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1234440"/>
            <a:ext cx="3840480" cy="3611880"/>
          </a:xfrm>
          <a:prstGeom prst="roundRect">
            <a:avLst>
              <a:gd name="adj" fmla="val 253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12080" y="1783080"/>
            <a:ext cx="13716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ChestX-ray14 (~112k images)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2249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20 - patient-level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224, ImageNet normalization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3236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(best at epoch 6)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0" y="3895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×2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9224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BFF2011-4E6A-57DB-F3A2-47352DF59F5C}"/>
              </a:ext>
            </a:extLst>
          </p:cNvPr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67412-BE40-EEF0-E333-49E10E30E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7" y="1034449"/>
            <a:ext cx="8999622" cy="392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2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DannyNet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Test Set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all 14 thoracic disease classes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5034"/>
            <a:ext cx="2613259" cy="834995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8147" y="1236370"/>
            <a:ext cx="1780674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1456" y="154076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0600" y="175493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diseases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7425" y="1155035"/>
            <a:ext cx="2512194" cy="834994"/>
          </a:xfrm>
          <a:prstGeom prst="roundRect">
            <a:avLst>
              <a:gd name="adj" fmla="val 8333"/>
            </a:avLst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88849" y="1067205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63824" y="1538359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3260" y="1765289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per-class thresholds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1155033"/>
            <a:ext cx="2697480" cy="86867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0223" y="1075385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04341" y="1538359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2843" y="175566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950" dirty="0"/>
          </a:p>
        </p:txBody>
      </p:sp>
      <p:pic>
        <p:nvPicPr>
          <p:cNvPr id="17" name="Image 0" descr="/home/claude/work/pres_assets/dannynet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2151"/>
            <a:ext cx="5303520" cy="27893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86557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- sorted by AUC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230765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diseases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0" y="2663793"/>
            <a:ext cx="2926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35040" y="2673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63840" y="26830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43600" y="2956402"/>
            <a:ext cx="292608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35040" y="295640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63840" y="2956399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0" y="3249006"/>
            <a:ext cx="2926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35040" y="32393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863840" y="3249007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43600" y="3541614"/>
            <a:ext cx="292608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35040" y="3541621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863840" y="354162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943600" y="3834220"/>
            <a:ext cx="2926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35040" y="3824599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863840" y="38246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0.749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943600" y="4126831"/>
            <a:ext cx="292608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035040" y="41172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863840" y="411720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C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98932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are well-localized findings; bottom 3 share diffuse, overlapping presentations.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DannyNet vs. Original CheXNet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Per-disease AUC comparison - honest results from our reproduction</a:t>
            </a:r>
            <a:endParaRPr lang="en-US" sz="1300" dirty="0"/>
          </a:p>
        </p:txBody>
      </p:sp>
      <p:pic>
        <p:nvPicPr>
          <p:cNvPr id="5" name="Image 0" descr="/home/claude/work/pres_assets/dannynet_vs_chex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943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16459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improved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26974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DC4438"/>
          </a:solidFill>
          <a:ln w="12700">
            <a:solidFill>
              <a:srgbClr val="DC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836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regressed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3749040"/>
            <a:ext cx="2286000" cy="10972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7512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4069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 fell short of paper's 0.85 (we hit 0.83) - early stopping at epoch 6 likely limited convergence.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Diagnostics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loss curves tell us about what went well - and what didn't</a:t>
            </a:r>
            <a:endParaRPr lang="en-US" sz="1300" dirty="0"/>
          </a:p>
        </p:txBody>
      </p:sp>
      <p:pic>
        <p:nvPicPr>
          <p:cNvPr id="5" name="Image 0" descr="/home/claude/work/pres_assets/dannynet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169164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745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6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67512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 peaks at 0.838 then plateaus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26480" y="246888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6517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overfitting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7512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rises after epoch 5 while train loss keeps falling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126480" y="324612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290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 worked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675120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cuts LR cleanly when val loss stalls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126480" y="402336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2062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7512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plateaus at 0.22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67512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threshold cap - solved by per-class tuning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Where Is the Model Looking?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model attention — does it focus on clinically meaningful regions?</a:t>
            </a:r>
            <a:endParaRPr lang="en-US" sz="1300" dirty="0"/>
          </a:p>
        </p:txBody>
      </p:sp>
      <p:pic>
        <p:nvPicPr>
          <p:cNvPr id="5" name="Image 0" descr="/home/claude/work/pres_assets/gradcam_cardiomeg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83" y="1188720"/>
            <a:ext cx="420624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 (p = 0.381)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precisely locates the heart silhouette - clinically correct localization.</a:t>
            </a:r>
            <a:endParaRPr lang="en-US" sz="1000" dirty="0"/>
          </a:p>
        </p:txBody>
      </p:sp>
      <p:pic>
        <p:nvPicPr>
          <p:cNvPr id="8" name="Image 1" descr="/home/claude/work/pres_assets/gradcam_atelecta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24" y="1188720"/>
            <a:ext cx="420624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Atelectasis (p = 0.244)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5488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confidence; attention is on a pacemaker shadow rather than lung tissue.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4251960"/>
            <a:ext cx="841248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864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builds trust - but also reveals shortcut learning from medical devices in the frame.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metrics evolved across our 4 phases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3716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9037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grew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 → 3 → 14 classes; from binary → multi-label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0" y="25146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9037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held strong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14× more classes, mean AUC matched simpler setups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6576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90372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research arc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0372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informed the next - paper reproduction was the destination, not the start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on what we'd do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2411" y="1758055"/>
            <a:ext cx="164592" cy="164592"/>
          </a:xfrm>
          <a:prstGeom prst="ellipse">
            <a:avLst/>
          </a:prstGeom>
          <a:solidFill>
            <a:srgbClr val="DC4438"/>
          </a:solidFill>
          <a:ln w="12700">
            <a:solidFill>
              <a:srgbClr val="DC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06680"/>
            <a:ext cx="3749040" cy="43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match paper's 0.85 mean AUC (reached 0.83) - early stopping at epoch 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9764" y="2331720"/>
            <a:ext cx="164592" cy="164592"/>
          </a:xfrm>
          <a:prstGeom prst="ellipse">
            <a:avLst/>
          </a:prstGeom>
          <a:solidFill>
            <a:srgbClr val="DC4438"/>
          </a:solidFill>
          <a:ln w="12700">
            <a:solidFill>
              <a:srgbClr val="DC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37993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of 0.31 is below paper's 0.39 - threshold tuning helped but not enough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2843784"/>
            <a:ext cx="164592" cy="164592"/>
          </a:xfrm>
          <a:prstGeom prst="ellipse">
            <a:avLst/>
          </a:prstGeom>
          <a:solidFill>
            <a:srgbClr val="DC4438"/>
          </a:solidFill>
          <a:ln w="12700">
            <a:solidFill>
              <a:srgbClr val="DC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76864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weights - domain mismatch for grayscale radiographs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54" y="3314940"/>
            <a:ext cx="164592" cy="164592"/>
          </a:xfrm>
          <a:prstGeom prst="ellipse">
            <a:avLst/>
          </a:prstGeom>
          <a:solidFill>
            <a:srgbClr val="DC4438"/>
          </a:solidFill>
          <a:ln w="12700">
            <a:solidFill>
              <a:srgbClr val="DC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25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labels are NLP-derived (~90% accurate), not clinician-verified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9164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12080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Medical-pretrained weights (TorchXRayVision, RadImageNet)</a:t>
            </a:r>
            <a:endParaRPr lang="en-US" sz="10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1140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2261937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Vision Transformers and ConvNeXt backbones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73116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27311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reweighting + oversampling for ultra-rare classes (Hernia, Pneumonia)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509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32858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supervision using NIH BBox annotations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64143" y="-904775"/>
            <a:ext cx="3200400" cy="3200400"/>
          </a:xfrm>
          <a:prstGeom prst="ellipse">
            <a:avLst/>
          </a:prstGeom>
          <a:solidFill>
            <a:srgbClr val="0F766E">
              <a:alpha val="50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97066">
              <a:alpha val="40000"/>
            </a:srgbClr>
          </a:solidFill>
          <a:ln w="12700">
            <a:solidFill>
              <a:srgbClr val="F9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critiques, and discussion welcome.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DannyNet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6140" y="3647975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 0.83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364797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diseases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1400</Words>
  <Application>Microsoft Office PowerPoint</Application>
  <PresentationFormat>On-screen Show (16:9)</PresentationFormat>
  <Paragraphs>272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Chest X-Ray Classification: From Classical ML to DannyNet</dc:title>
  <dc:subject>PptxGenJS Presentation</dc:subject>
  <dc:creator>Project Defense</dc:creator>
  <cp:lastModifiedBy>Muhammad Hamza Azhar</cp:lastModifiedBy>
  <cp:revision>46</cp:revision>
  <dcterms:created xsi:type="dcterms:W3CDTF">2026-05-02T18:01:56Z</dcterms:created>
  <dcterms:modified xsi:type="dcterms:W3CDTF">2026-05-09T06:13:40Z</dcterms:modified>
</cp:coreProperties>
</file>